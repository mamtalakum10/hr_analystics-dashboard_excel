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Raleway"/>
      <p:regular r:id="rId17"/>
    </p:embeddedFont>
    <p:embeddedFont>
      <p:font typeface="Raleway"/>
      <p:regular r:id="rId18"/>
    </p:embeddedFont>
    <p:embeddedFont>
      <p:font typeface="Raleway"/>
      <p:regular r:id="rId19"/>
    </p:embeddedFont>
    <p:embeddedFont>
      <p:font typeface="Raleway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27427"/>
            <a:ext cx="62900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HR Analytics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insights into workforce demographics, attrition trends, and employee engagement metrics to drive data-driven retention strategies.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798" y="527090"/>
            <a:ext cx="4792028" cy="59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Workforce Overview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70798" y="1605082"/>
            <a:ext cx="4269819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950"/>
              </a:lnSpc>
              <a:buNone/>
            </a:pPr>
            <a:r>
              <a:rPr lang="en-US" sz="4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1,470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607701" y="2476976"/>
            <a:ext cx="239601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Employees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180171" y="1605082"/>
            <a:ext cx="4269938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950"/>
              </a:lnSpc>
              <a:buNone/>
            </a:pPr>
            <a:r>
              <a:rPr lang="en-US" sz="4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237</a:t>
            </a:r>
            <a:endParaRPr lang="en-US" sz="4950" dirty="0"/>
          </a:p>
        </p:txBody>
      </p:sp>
      <p:sp>
        <p:nvSpPr>
          <p:cNvPr id="6" name="Text 4"/>
          <p:cNvSpPr/>
          <p:nvPr/>
        </p:nvSpPr>
        <p:spPr>
          <a:xfrm>
            <a:off x="6117074" y="2476976"/>
            <a:ext cx="239601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Attrition Count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689663" y="1605082"/>
            <a:ext cx="4269819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950"/>
              </a:lnSpc>
              <a:buNone/>
            </a:pPr>
            <a:r>
              <a:rPr lang="en-US" sz="4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1,233</a:t>
            </a:r>
            <a:endParaRPr lang="en-US" sz="4950" dirty="0"/>
          </a:p>
        </p:txBody>
      </p:sp>
      <p:sp>
        <p:nvSpPr>
          <p:cNvPr id="8" name="Text 6"/>
          <p:cNvSpPr/>
          <p:nvPr/>
        </p:nvSpPr>
        <p:spPr>
          <a:xfrm>
            <a:off x="10626566" y="2476976"/>
            <a:ext cx="239601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Active Employees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2754154" y="4237911"/>
            <a:ext cx="2357676" cy="47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16%</a:t>
            </a:r>
            <a:endParaRPr lang="en-US" sz="3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431" y="3039904"/>
            <a:ext cx="2875240" cy="2875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35104" y="6154579"/>
            <a:ext cx="239601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Attrition Rate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518333" y="4237911"/>
            <a:ext cx="2357676" cy="47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52%</a:t>
            </a:r>
            <a:endParaRPr lang="en-US" sz="37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610" y="3039904"/>
            <a:ext cx="2875240" cy="2875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499283" y="6154579"/>
            <a:ext cx="239601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Job Satisfaction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7434977" y="6568916"/>
            <a:ext cx="652462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 out of 5 rating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70798" y="7091243"/>
            <a:ext cx="13288804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organization maintains 1,470 employees with a 16% attrition rate. Average employee age is 37 years, with job satisfaction at 2.6/5 indicating room for improvement.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69574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Gender &amp; Attrition Patterns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Balanced Workforce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organization maintains gender balance across the workforce, reflecting inclusive hiring practices.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15715"/>
            <a:ext cx="32585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Female Attrition Concern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Female attrition rates are slightly higher than male, suggesting a need for enhanced work-life balance initiatives and support programs.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9202"/>
            <a:ext cx="63496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Education-Wise Attrition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38143"/>
            <a:ext cx="4196358" cy="1821180"/>
          </a:xfrm>
          <a:prstGeom prst="roundRect">
            <a:avLst>
              <a:gd name="adj" fmla="val 523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4725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Bachelor's Degree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962995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 employees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4461986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attrition group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238143"/>
            <a:ext cx="4196358" cy="1821180"/>
          </a:xfrm>
          <a:prstGeom prst="roundRect">
            <a:avLst>
              <a:gd name="adj" fmla="val 523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34725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Master's Degree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3962995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 employees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451396" y="4461986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highest attrition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238143"/>
            <a:ext cx="4196358" cy="1821180"/>
          </a:xfrm>
          <a:prstGeom prst="roundRect">
            <a:avLst>
              <a:gd name="adj" fmla="val 523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4568" y="34725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74568" y="396299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Mid-level professionals seeking better career growth opportunities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531447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Bachelor's degree holders show the highest attrition, indicating that mid-level professionals may be seeking advancement opportunities elsewhere.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6138" y="421243"/>
            <a:ext cx="5273397" cy="47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Department-Wise Breakdown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138" y="1206341"/>
            <a:ext cx="13558123" cy="740878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449604" y="8645604"/>
            <a:ext cx="153114" cy="153114"/>
          </a:xfrm>
          <a:prstGeom prst="roundRect">
            <a:avLst>
              <a:gd name="adj" fmla="val 11944"/>
            </a:avLst>
          </a:prstGeom>
          <a:solidFill>
            <a:srgbClr val="1F1F2D"/>
          </a:solidFill>
          <a:ln/>
        </p:spPr>
      </p:sp>
      <p:sp>
        <p:nvSpPr>
          <p:cNvPr id="5" name="Text 2"/>
          <p:cNvSpPr/>
          <p:nvPr/>
        </p:nvSpPr>
        <p:spPr>
          <a:xfrm>
            <a:off x="4663678" y="8645604"/>
            <a:ext cx="290155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R&amp;D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022187" y="8645604"/>
            <a:ext cx="153114" cy="153114"/>
          </a:xfrm>
          <a:prstGeom prst="roundRect">
            <a:avLst>
              <a:gd name="adj" fmla="val 11944"/>
            </a:avLst>
          </a:prstGeom>
          <a:solidFill>
            <a:srgbClr val="535378"/>
          </a:solidFill>
          <a:ln/>
        </p:spPr>
      </p:sp>
      <p:sp>
        <p:nvSpPr>
          <p:cNvPr id="7" name="Text 4"/>
          <p:cNvSpPr/>
          <p:nvPr/>
        </p:nvSpPr>
        <p:spPr>
          <a:xfrm>
            <a:off x="7236262" y="8645604"/>
            <a:ext cx="371713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676448" y="8645604"/>
            <a:ext cx="153114" cy="153114"/>
          </a:xfrm>
          <a:prstGeom prst="roundRect">
            <a:avLst>
              <a:gd name="adj" fmla="val 11944"/>
            </a:avLst>
          </a:prstGeom>
          <a:solidFill>
            <a:srgbClr val="9494B5"/>
          </a:solidFill>
          <a:ln/>
        </p:spPr>
      </p:sp>
      <p:sp>
        <p:nvSpPr>
          <p:cNvPr id="9" name="Text 6"/>
          <p:cNvSpPr/>
          <p:nvPr/>
        </p:nvSpPr>
        <p:spPr>
          <a:xfrm>
            <a:off x="9890522" y="8645604"/>
            <a:ext cx="203597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6138" y="8971121"/>
            <a:ext cx="13558123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R&amp;D accounts for 56% of attrition, followed by Sales at 39% and HR at 5%. This indicates potential workload or engagement issues in technical and sales teams.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59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 Group Analysis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188369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80439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415183"/>
            <a:ext cx="12653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55+ years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2905601"/>
            <a:ext cx="12653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attrition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508415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C7C7D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551992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006096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778806"/>
            <a:ext cx="1808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35-54 years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269224"/>
            <a:ext cx="180891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 attrition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4872038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C7C7D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4915614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36971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142428"/>
            <a:ext cx="15307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25-34 years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632847"/>
            <a:ext cx="15307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112 employees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47771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Employees aged 25-34 have the highest attrition (112 employees). Early-career professionals are more likely to leave, potentially due to job satisfaction, career advancement, or compensation concerns.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62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High-Risk Job Roles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58609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158609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4159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Sales Executives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906322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contributor to attrition. Requires enhanced incentives and support.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158609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158609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415903"/>
            <a:ext cx="30147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Laboratory Technicians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906322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 turnover in technical roles. Training programs needed.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158609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158609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4159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Scientists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906322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talent loss in R&amp;D. Targeted retention strategies essential.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50747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roles require immediate attention through targeted retention strategies, enhanced training programs, and competitive compensation packages.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74410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40627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Career Development Programs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mentorship programs for employees aged 25-34 to improve retention and career growth.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196352"/>
            <a:ext cx="32681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Enhance Job Satisfaction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recognition programs and flexible work policies to boost engagement scores.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30709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Conduct Exit Interviews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reasons behind high attrition in R&amp;D and Sales departments through structured feedback.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31440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Upskilling Opportunities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career advancement pathways for Bachelor's degree holders to reduce mid-level attrition.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7091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Focus Areas for Improvement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0190" y="2428637"/>
            <a:ext cx="680442" cy="6804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44120" y="26199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Career Growth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244120" y="3110389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Address advancement opportunities for mid-level professionals, especially Bachelor's degree holders seeking progression.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4289822"/>
            <a:ext cx="680442" cy="6804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44120" y="44811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Work-Life Balance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244120" y="4971574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flexible policies and support programs, particularly for female employees and high-stress departments.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6151007"/>
            <a:ext cx="680442" cy="6804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44120" y="6342340"/>
            <a:ext cx="30927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Employee Engagement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244120" y="6832759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 feedback sessions and well-being initiatives to improve the 2.6/5 job satisfaction score.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616268"/>
            <a:ext cx="5603200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Path Forward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20497" y="2016800"/>
            <a:ext cx="12725519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Attrition is mainly driven by mid-level professionals and specific job roles. By addressing career growth, work-life balance, and employee engagement, the organization can significantly reduce attrition and foster a more stable, motivated workforce.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4384" y="1764744"/>
            <a:ext cx="30480" cy="1221105"/>
          </a:xfrm>
          <a:prstGeom prst="rect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384" y="3237905"/>
            <a:ext cx="6530816" cy="8964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8459" y="4358402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8459" y="4842986"/>
            <a:ext cx="6082665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dive into department-specific issues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237905"/>
            <a:ext cx="6530816" cy="8964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39276" y="4358402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Strategize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539276" y="4842986"/>
            <a:ext cx="6082665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targeted retention programs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84" y="5425559"/>
            <a:ext cx="6530816" cy="89642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8459" y="6546056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08459" y="7030641"/>
            <a:ext cx="6082665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initiatives and track progress</a:t>
            </a:r>
            <a:endParaRPr lang="en-US" sz="1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25559"/>
            <a:ext cx="6530816" cy="89642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539276" y="6546056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Succeed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539276" y="7030641"/>
            <a:ext cx="6082665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stable, motivated workforce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2025-11-06T13:02:36Z</dcterms:created>
  <dcterms:modified xsi:type="dcterms:W3CDTF">2025-11-06T13:02:36Z</dcterms:modified>
</cp:coreProperties>
</file>